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Plus Jakarta Sans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75944896-0739-462e-b78b-9faf54e5f01c.fntdata" /><ns0:Relationship Id="rIdFont17" Type="http://schemas.openxmlformats.org/officeDocument/2006/relationships/font" Target="fonts/ea7da01d-2a22-448e-8fa7-e0c97cf1cd9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608165"/>
            <a:ext cx="5334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11734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TEAM PRESENTATION • GROUP OF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35584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3F4F6"/>
                </a:solidFill>
                <a:latin typeface="Plus Jakarta Sans"/>
              </a:rPr>
              <a:t>Audio Filtering via Fourier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65215"/>
            <a:ext cx="6286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CA3AF"/>
                </a:solidFill>
                <a:latin typeface="Plus Jakarta Sans"/>
              </a:rPr>
              <a:t>Transforming time-domain signals into frequency spectra for precision audio filtering.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97385"/>
            <a:ext cx="35052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97385"/>
            <a:ext cx="35052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97385"/>
            <a:ext cx="35052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1171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1171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1171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87" y="3345060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334506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1062" y="3345060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F2937"/>
                </a:solidFill>
                <a:latin typeface="Plus Jakarta Sans"/>
              </a:rPr>
              <a:t>Why We Need Audio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7527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Raw audio recordings contain noise, unwanted frequencies, and distortion.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85941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F2937"/>
                </a:solidFill>
                <a:latin typeface="Plus Jakarta Sans"/>
              </a:rPr>
              <a:t>Noise Removal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211835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Eliminate unwanted background hums and static.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85941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F2937"/>
                </a:solidFill>
                <a:latin typeface="Plus Jakarta Sans"/>
              </a:rPr>
              <a:t>Frequency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211835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Isolate specific vocal ranges or instrumental tracks.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85941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F2937"/>
                </a:solidFill>
                <a:latin typeface="Plus Jakarta Sans"/>
              </a:rPr>
              <a:t>Signal Clarity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211835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Enhance listening quality for analysis and playback.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02185"/>
            <a:ext cx="2600325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202185"/>
            <a:ext cx="2600325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202185"/>
            <a:ext cx="2600325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202185"/>
            <a:ext cx="2600325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F2937"/>
                </a:solidFill>
                <a:latin typeface="Plus Jakarta Sans"/>
              </a:rPr>
              <a:t>Audio Processing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7527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Four sequential steps executed in Python.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78410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26060"/>
            <a:ext cx="26878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937"/>
                </a:solidFill>
                <a:latin typeface="Plus Jakarta Sans"/>
              </a:rPr>
              <a:t>Audio Loading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021335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Librosa loads track into float32 array.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650" y="3478410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STEP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6650" y="3726060"/>
            <a:ext cx="26878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937"/>
                </a:solidFill>
                <a:latin typeface="Plus Jakarta Sans"/>
              </a:rPr>
              <a:t>Forward FFT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650" y="4021335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Convert time wave to frequency spectrum.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3478410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STEP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3726060"/>
            <a:ext cx="26878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937"/>
                </a:solidFill>
                <a:latin typeface="Plus Jakarta Sans"/>
              </a:rPr>
              <a:t>Masking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4021335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Zero out frequencies outside cutoff range.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478410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STEP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300" y="3726060"/>
            <a:ext cx="26878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937"/>
                </a:solidFill>
                <a:latin typeface="Plus Jakarta Sans"/>
              </a:rPr>
              <a:t>Inverse IFFT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300" y="4021335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Reconstruct clean audio signal wave.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5960"/>
            <a:ext cx="5334000" cy="2085975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25960"/>
            <a:ext cx="5334000" cy="2085975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326010"/>
            <a:ext cx="2667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326010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F2937"/>
                </a:solidFill>
                <a:latin typeface="Plus Jakarta Sans"/>
              </a:rPr>
              <a:t>How Fourier Transform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7527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Bridging the gap between time and frequency domains.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764160"/>
            <a:ext cx="607575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F2937"/>
                </a:solidFill>
                <a:latin typeface="Plus Jakarta Sans"/>
              </a:rPr>
              <a:t>Time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145160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Audio data represented as amplitude variations across time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764160"/>
            <a:ext cx="55911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F2937"/>
                </a:solidFill>
                <a:latin typeface="Plus Jakarta Sans"/>
              </a:rPr>
              <a:t>Frequency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145160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FFT decomposes the wave into constituent sine waves and frequencies.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22945"/>
            <a:ext cx="10972800" cy="4977854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2975" y="2244923"/>
            <a:ext cx="1548705" cy="3028950"/>
          </a:xfrm>
          <a:prstGeom prst="rect">
            <a:avLst/>
          </a:prstGeom>
          <a:solidFill>
            <a:srgbClr val="FB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03084" y="2244923"/>
            <a:ext cx="2064990" cy="3028950"/>
          </a:xfrm>
          <a:prstGeom prst="rect">
            <a:avLst/>
          </a:prstGeom>
          <a:solidFill>
            <a:srgbClr val="FB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33475" y="4327177"/>
            <a:ext cx="298251" cy="851445"/>
          </a:xfrm>
          <a:prstGeom prst="roundRect">
            <a:avLst>
              <a:gd name="adj" fmla="val 1277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0370" y="4610992"/>
            <a:ext cx="298251" cy="567630"/>
          </a:xfrm>
          <a:prstGeom prst="roundRect">
            <a:avLst>
              <a:gd name="adj" fmla="val 1277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7265" y="2765970"/>
            <a:ext cx="298251" cy="2412652"/>
          </a:xfrm>
          <a:prstGeom prst="roundRect">
            <a:avLst>
              <a:gd name="adj" fmla="val 1277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64160" y="2482155"/>
            <a:ext cx="298251" cy="2696467"/>
          </a:xfrm>
          <a:prstGeom prst="roundRect">
            <a:avLst>
              <a:gd name="adj" fmla="val 1277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41056" y="3475583"/>
            <a:ext cx="298251" cy="1703040"/>
          </a:xfrm>
          <a:prstGeom prst="roundRect">
            <a:avLst>
              <a:gd name="adj" fmla="val 1277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17951" y="4043362"/>
            <a:ext cx="298251" cy="1135260"/>
          </a:xfrm>
          <a:prstGeom prst="roundRect">
            <a:avLst>
              <a:gd name="adj" fmla="val 1277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94846" y="3191767"/>
            <a:ext cx="298251" cy="1986855"/>
          </a:xfrm>
          <a:prstGeom prst="roundRect">
            <a:avLst>
              <a:gd name="adj" fmla="val 1277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1742" y="2624137"/>
            <a:ext cx="298251" cy="2554485"/>
          </a:xfrm>
          <a:prstGeom prst="roundRect">
            <a:avLst>
              <a:gd name="adj" fmla="val 1277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8637" y="3759398"/>
            <a:ext cx="298251" cy="1419225"/>
          </a:xfrm>
          <a:prstGeom prst="roundRect">
            <a:avLst>
              <a:gd name="adj" fmla="val 1277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25532" y="4327177"/>
            <a:ext cx="298251" cy="851445"/>
          </a:xfrm>
          <a:prstGeom prst="roundRect">
            <a:avLst>
              <a:gd name="adj" fmla="val 1277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02428" y="3333750"/>
            <a:ext cx="298251" cy="1844873"/>
          </a:xfrm>
          <a:prstGeom prst="roundRect">
            <a:avLst>
              <a:gd name="adj" fmla="val 1277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779323" y="3901380"/>
            <a:ext cx="298251" cy="1277242"/>
          </a:xfrm>
          <a:prstGeom prst="roundRect">
            <a:avLst>
              <a:gd name="adj" fmla="val 1277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F2937"/>
                </a:solidFill>
                <a:latin typeface="Plus Jakarta Sans"/>
              </a:rPr>
              <a:t>FFT Spectrum &amp; Frequency Masking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97527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Visualizing magnitude across frequencies with low and high cutoffs.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386" y="2244923"/>
            <a:ext cx="1935881" cy="3028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00" i="0" u="none">
                <a:solidFill>
                  <a:srgbClr val="B45309"/>
                </a:solidFill>
                <a:latin typeface="Plus Jakarta Sans"/>
              </a:rPr>
              <a:t>Cutoff &lt;200Hz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4960" y="2244923"/>
            <a:ext cx="2581237" cy="3028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00" i="0" u="none">
                <a:solidFill>
                  <a:srgbClr val="B45309"/>
                </a:solidFill>
                <a:latin typeface="Plus Jakarta Sans"/>
              </a:rPr>
              <a:t>Cutoff &gt;3000Hz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5407223"/>
            <a:ext cx="876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B5563"/>
                </a:solidFill>
                <a:latin typeface="Plus Jakarta Sans"/>
              </a:rPr>
              <a:t>0 Hz (DC)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6275" y="5407223"/>
            <a:ext cx="3702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B5563"/>
                </a:solidFill>
                <a:latin typeface="Plus Jakarta Sans"/>
              </a:rPr>
              <a:t>Passband Range (200 Hz - 3000 Hz preserved)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0350" y="5407223"/>
            <a:ext cx="1133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B5563"/>
                </a:solidFill>
                <a:latin typeface="Plus Jakarta Sans"/>
              </a:rPr>
              <a:t>Nyquist Limit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5023"/>
            <a:ext cx="5334000" cy="1847850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45023"/>
            <a:ext cx="5334000" cy="1847850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F2937"/>
                </a:solidFill>
                <a:latin typeface="Plus Jakarta Sans"/>
              </a:rPr>
              <a:t>Applying Spectral Masking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7527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Filtering frequencies using numerical cutoffs.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397448"/>
            <a:ext cx="5786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LOW CUTOFF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645098"/>
            <a:ext cx="607575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F2937"/>
                </a:solidFill>
                <a:latin typeface="Plus Jakarta Sans"/>
              </a:rPr>
              <a:t>200 Hz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026098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Frequencies below 200 Hz are muted to eliminate sub-bass rumble.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397448"/>
            <a:ext cx="5591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HIGH CUTOFF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645098"/>
            <a:ext cx="55911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F2937"/>
                </a:solidFill>
                <a:latin typeface="Plus Jakarta Sans"/>
              </a:rPr>
              <a:t>3000 Hz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026098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Frequencies above 3000 Hz are muted to suppress high-pitched hiss.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3560"/>
            <a:ext cx="3505200" cy="2390775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73560"/>
            <a:ext cx="3505200" cy="2390775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73560"/>
            <a:ext cx="3505200" cy="2390775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1075" y="3602235"/>
            <a:ext cx="521940" cy="304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41115" y="3297435"/>
            <a:ext cx="521940" cy="609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01155" y="3678435"/>
            <a:ext cx="521940" cy="228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61195" y="3221235"/>
            <a:ext cx="521940" cy="685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21235" y="3526035"/>
            <a:ext cx="521940" cy="381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14875" y="3373635"/>
            <a:ext cx="521940" cy="533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74915" y="3754635"/>
            <a:ext cx="521940" cy="152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34955" y="3449835"/>
            <a:ext cx="521940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94995" y="3602235"/>
            <a:ext cx="521940" cy="3048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55035" y="3259335"/>
            <a:ext cx="521940" cy="6477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49785"/>
            <a:ext cx="2952750" cy="952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49785"/>
            <a:ext cx="2952750" cy="952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049785"/>
            <a:ext cx="2952750" cy="952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5487" y="3354585"/>
            <a:ext cx="428625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F2937"/>
                </a:solidFill>
                <a:latin typeface="Plus Jakarta Sans"/>
              </a:rPr>
              <a:t>Visualization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97527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Three-panel interactive matplotlib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15468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937"/>
                </a:solidFill>
                <a:latin typeface="Plus Jakarta Sans"/>
              </a:rPr>
              <a:t>1. Waveform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4449960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Inspects raw audio amplitude over 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9625" y="415468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937"/>
                </a:solidFill>
                <a:latin typeface="Plus Jakarta Sans"/>
              </a:rPr>
              <a:t>2. Spectrum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9625" y="4449960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Plots FFT magnitude against frequencies.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3425" y="415468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937"/>
                </a:solidFill>
                <a:latin typeface="Plus Jakarta Sans"/>
              </a:rPr>
              <a:t>3. Animated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3425" y="4449960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Compares original and filtered live signals.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5023"/>
            <a:ext cx="5334000" cy="1847850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45023"/>
            <a:ext cx="5334000" cy="1847850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F2937"/>
                </a:solidFill>
                <a:latin typeface="Plus Jakarta Sans"/>
              </a:rPr>
              <a:t>Team Work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7527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Collaborative division of labor for our group of two.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397448"/>
            <a:ext cx="5786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MEMBER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645098"/>
            <a:ext cx="607575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F2937"/>
                </a:solidFill>
                <a:latin typeface="Plus Jakarta Sans"/>
              </a:rPr>
              <a:t>Signal Processing &amp; DSP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026098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Handled audio loading with Librosa, FFT mathematics, and spectral filtering algorithms.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397448"/>
            <a:ext cx="5591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MEMBER 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645098"/>
            <a:ext cx="55911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F2937"/>
                </a:solidFill>
                <a:latin typeface="Plus Jakarta Sans"/>
              </a:rPr>
              <a:t>Visualization &amp; Animation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026098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Implemented matplotlib subplots, live audio playback routines, and animated oscilloscope loops.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29300" y="4219575"/>
            <a:ext cx="5334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1637" y="2600325"/>
            <a:ext cx="1228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D97706"/>
                </a:solidFill>
                <a:latin typeface="Plus Jakarta Sa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819" y="2924175"/>
            <a:ext cx="688836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3F4F6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7796" y="3695700"/>
            <a:ext cx="55364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CA3AF"/>
                </a:solidFill>
                <a:latin typeface="Plus Jakarta Sans"/>
              </a:rPr>
              <a:t>Ready to demonstrate our live Python audio filter script.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