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project. Explain that the demo uses a synthetic tone, not a real recording. Replace the group-member placeholder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roadmap in one sentence. This slide is also the slide plan for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hum and hiss in plain language. Emphasize that 440 Hz is the target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controlled test: sampling at 8 kHz for 2 seconds, with three known sine-wave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irregular-looking purple mixture. The code adds the clean signal and both noise components sample by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FFT stands for Fast Fourier Transform. It reveals the frequencies making up the signal; peaks correspond to the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 keeps frequencies from 200 to 1000 Hz. This includes 440 Hz but excludes 60 Hz and 3000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IFFT converts the filtered spectrum back into a time-domain waveform so we can inspect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and let the animated waveform run. Purple is the noisy signal; teal is the filtered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limitation: this ideal example has separated frequencies. Real recordings can have speech and noise overlapping in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Ask the audience what might happen if the wanted sound were outside the 200–1000 Hz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DD4BF"/>
                </a:solidFill>
                <a:latin typeface="Aptos"/>
              </a:defRPr>
            </a:pPr>
            <a:r>
              <a:t>SIGNAL PROCESSING  / 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92240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Cleaning Noisy Audio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with Fourier Transforms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603504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CBD5E1"/>
                </a:solidFill>
                <a:latin typeface="Aptos"/>
              </a:defRPr>
            </a:pPr>
            <a:r>
              <a:t>From a mixed waveform to a clearer 440 Hz tone</a:t>
            </a:r>
          </a:p>
        </p:txBody>
      </p:sp>
      <p:pic>
        <p:nvPicPr>
          <p:cNvPr id="6" name="Picture 5" descr="nois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800600" cy="2057400"/>
          </a:xfrm>
          <a:prstGeom prst="rect">
            <a:avLst/>
          </a:prstGeom>
        </p:spPr>
      </p:pic>
      <p:pic>
        <p:nvPicPr>
          <p:cNvPr id="7" name="Picture 6" descr="filter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429000"/>
            <a:ext cx="480060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806440"/>
            <a:ext cx="9875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Presented by: [Group members]     •     Class: [Class/Section]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74C2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E293B"/>
                </a:solidFill>
                <a:latin typeface="Aptos"/>
              </a:defRPr>
            </a:pPr>
            <a:r>
              <a:t>What we’ll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 short, presentation-friendly path from the problem to the result.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0E7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3891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48256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48256"/>
            <a:ext cx="71323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What hum and hiss do to audio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07208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43891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98064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Signal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98064"/>
            <a:ext cx="71323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A 440 Hz tone plus two noises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557015"/>
            <a:ext cx="438912" cy="438912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43891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47872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FFT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47872"/>
            <a:ext cx="71323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Move from time to frequency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306824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43891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9768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97680"/>
            <a:ext cx="71323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Keep 200–1000 Hz; reject outside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56631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48071"/>
            <a:ext cx="43891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47488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IFFT +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47488"/>
            <a:ext cx="71323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Rebuild and compare the waveform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F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01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does audio sound noisy?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Unwanted frequencies can mask the sound we want to hear.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29000" cy="2423160"/>
          </a:xfrm>
          <a:prstGeom prst="roundRect">
            <a:avLst/>
          </a:prstGeom>
          <a:solidFill>
            <a:srgbClr val="1E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295144"/>
            <a:ext cx="30998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LOW-FREQUENCY HUM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70632"/>
            <a:ext cx="3099816" cy="1709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A 60 Hz component adds a slow electrical buzz.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423160"/>
          </a:xfrm>
          <a:prstGeom prst="roundRect">
            <a:avLst/>
          </a:prstGeom>
          <a:solidFill>
            <a:srgbClr val="58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295144"/>
            <a:ext cx="30998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HIGH-FREQUENCY HISS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770632"/>
            <a:ext cx="3099816" cy="1709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A 3000 Hz component adds a sharper, high-pitched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429000" cy="2423160"/>
          </a:xfrm>
          <a:prstGeom prst="roundRect">
            <a:avLst/>
          </a:prstGeom>
          <a:solidFill>
            <a:srgbClr val="7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2295144"/>
            <a:ext cx="30998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TARGET SOUND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770632"/>
            <a:ext cx="3099816" cy="1709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The clean 440 Hz tone is the musical note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Goal: preserve the target tone while removing the two unwanted components.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74C2"/>
                </a:solidFill>
                <a:latin typeface="Aptos"/>
              </a:defRPr>
            </a:pPr>
            <a:r>
              <a:t>02 • BUILD THE TEST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E293B"/>
                </a:solidFill>
                <a:latin typeface="Aptos"/>
              </a:defRPr>
            </a:pPr>
            <a:r>
              <a:t>One clean tone + two noise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code creates a controlled example so each frequency is known.</a:t>
            </a:r>
          </a:p>
        </p:txBody>
      </p:sp>
      <p:pic>
        <p:nvPicPr>
          <p:cNvPr id="5" name="Picture 4" descr="clean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303520" cy="2331720"/>
          </a:xfrm>
          <a:prstGeom prst="rect">
            <a:avLst/>
          </a:prstGeom>
        </p:spPr>
      </p:pic>
      <p:pic>
        <p:nvPicPr>
          <p:cNvPr id="6" name="Picture 5" descr="noise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19"/>
            <a:ext cx="5303520" cy="2331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4526280"/>
            <a:ext cx="3337560" cy="1143000"/>
          </a:xfrm>
          <a:prstGeom prst="roundRect">
            <a:avLst/>
          </a:prstGeom>
          <a:solidFill>
            <a:srgbClr val="0E7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672584"/>
            <a:ext cx="300837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148072"/>
            <a:ext cx="3008376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440 Hz sine wave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526280"/>
            <a:ext cx="3337560" cy="1143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4672584"/>
            <a:ext cx="300837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HUM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5148072"/>
            <a:ext cx="3008376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60 Hz • amplitude 0.3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26280"/>
            <a:ext cx="3337560" cy="114300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4672584"/>
            <a:ext cx="300837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HISS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5148072"/>
            <a:ext cx="3008376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3000 Hz • amplitude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74C2"/>
                </a:solidFill>
                <a:latin typeface="Aptos"/>
              </a:defRPr>
            </a:pPr>
            <a:r>
              <a:t>02 • THE MIXED WAVEFORM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E293B"/>
                </a:solidFill>
                <a:latin typeface="Aptos"/>
              </a:defRPr>
            </a:pPr>
            <a:r>
              <a:t>Adding noise changes the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observed signal is the sum of all three sine waves.</a:t>
            </a:r>
          </a:p>
        </p:txBody>
      </p:sp>
      <p:pic>
        <p:nvPicPr>
          <p:cNvPr id="5" name="Picture 4" descr="nois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67512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2103120"/>
            <a:ext cx="3840480" cy="2560320"/>
          </a:xfrm>
          <a:prstGeom prst="rect">
            <a:avLst/>
          </a:prstGeom>
          <a:noFill/>
        </p:spPr>
        <p:txBody>
          <a:bodyPr wrap="none" lIns="73152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Sampling rate: 8,000 samples per second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Duration: 2 seconds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Total samples: 16,000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Noise is deliberately strong enough to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241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D28D9"/>
                </a:solidFill>
                <a:latin typeface="Aptos"/>
              </a:defRPr>
            </a:pPr>
            <a:r>
              <a:t>noisy_signal = clean_signal + noise_hum + noise_hiss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03 • FOURIER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FFT: inspect the frequencies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The Fast Fourier Transform shows which frequencies are present.</a:t>
            </a:r>
          </a:p>
        </p:txBody>
      </p:sp>
      <p:pic>
        <p:nvPicPr>
          <p:cNvPr id="5" name="Picture 4" descr="fft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67512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2057400"/>
            <a:ext cx="3840480" cy="2926080"/>
          </a:xfrm>
          <a:prstGeom prst="rect">
            <a:avLst/>
          </a:prstGeom>
          <a:noFill/>
        </p:spPr>
        <p:txBody>
          <a:bodyPr wrap="non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Peak near 60 Hz → hum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Peak near 440 Hz → desired tone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Peak near 3000 Hz → hiss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FFT turns a time signal into frequency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4B5FD"/>
                </a:solidFill>
                <a:latin typeface="Aptos"/>
              </a:defRPr>
            </a:pPr>
            <a:r>
              <a:t>Think of FFT as separating a chord into its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04 • SPECTRAL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Keep the band that contains our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The code zeros out FFT bins outside 200–1000 Hz.</a:t>
            </a:r>
          </a:p>
        </p:txBody>
      </p:sp>
      <p:pic>
        <p:nvPicPr>
          <p:cNvPr id="5" name="Picture 4" descr="filt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400800" cy="2651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920240"/>
            <a:ext cx="3886200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2066544"/>
            <a:ext cx="35570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PASS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542032"/>
            <a:ext cx="3557016" cy="33832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200–1000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246120"/>
            <a:ext cx="3886200" cy="105156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3392424"/>
            <a:ext cx="35570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3867911"/>
            <a:ext cx="3557016" cy="33832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60 Hz hum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572000"/>
            <a:ext cx="3886200" cy="1051560"/>
          </a:xfrm>
          <a:prstGeom prst="round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718304"/>
            <a:ext cx="355701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5193792"/>
            <a:ext cx="3557016" cy="33832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3000 Hz hiss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62179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Because 440 Hz is inside the pass band, the target tone is retained.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74C2"/>
                </a:solidFill>
                <a:latin typeface="Aptos"/>
              </a:defRPr>
            </a:pPr>
            <a:r>
              <a:t>05 • RECONSTRUCT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E293B"/>
                </a:solidFill>
                <a:latin typeface="Aptos"/>
              </a:defRPr>
            </a:pPr>
            <a:r>
              <a:t>IFFT: return to the time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After masking unwanted frequency bins, the inverse FFT rebuilds the signal.</a:t>
            </a:r>
          </a:p>
        </p:txBody>
      </p:sp>
      <p:pic>
        <p:nvPicPr>
          <p:cNvPr id="5" name="Picture 4" descr="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7665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057400"/>
            <a:ext cx="3840480" cy="2743200"/>
          </a:xfrm>
          <a:prstGeom prst="rect">
            <a:avLst/>
          </a:prstGeom>
          <a:noFill/>
        </p:spPr>
        <p:txBody>
          <a:bodyPr wrap="none" lIns="73152" rIns="4572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The filtered wave is much closer to the original 440 Hz tone.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The 60 Hz and 3000 Hz components are outside the kept band.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 The output is converted back to a real-valued waveform.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966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D9488"/>
                </a:solidFill>
                <a:latin typeface="Aptos"/>
              </a:defRPr>
            </a:pPr>
            <a:r>
              <a:t>filtered_spectrum  →  IFFT  →  cleaned_signal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Aptos"/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Watch the noisy and filtered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ptos"/>
              </a:defRPr>
            </a:pPr>
            <a:r>
              <a:t>The embedded GIF animates a 50 ms window across the signal.</a:t>
            </a:r>
          </a:p>
        </p:txBody>
      </p:sp>
      <p:pic>
        <p:nvPicPr>
          <p:cNvPr id="5" name="Picture 4" descr="waveform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772400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06840" y="2057400"/>
            <a:ext cx="2240280" cy="1234440"/>
          </a:xfrm>
          <a:prstGeom prst="roundRect">
            <a:avLst/>
          </a:prstGeom>
          <a:solidFill>
            <a:srgbClr val="58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203704"/>
            <a:ext cx="191109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1432" y="2679192"/>
            <a:ext cx="1911096" cy="5212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Noisy mixture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611880"/>
            <a:ext cx="2240280" cy="1234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71432" y="3758184"/>
            <a:ext cx="191109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4233672"/>
            <a:ext cx="1911096" cy="5212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Filtered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CBD5E1"/>
                </a:solidFill>
                <a:latin typeface="Aptos"/>
              </a:defRPr>
            </a:pPr>
            <a:r>
              <a:t>Tip: run the slideshow to see the animation. If your PowerPoint viewer freezes GIFs, open the GIF separately.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74C2"/>
                </a:solidFill>
                <a:latin typeface="Aptos"/>
              </a:defRPr>
            </a:pPr>
            <a:r>
              <a:t>06 • RESULTS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E293B"/>
                </a:solidFill>
                <a:latin typeface="Aptos"/>
              </a:defRPr>
            </a:pPr>
            <a:r>
              <a:t>What worked — and 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 simple frequency mask is effective when the target and noise occupy different bands.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82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66544"/>
            <a:ext cx="314553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3145536" cy="11155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The 440 Hz tone is preserved while the 60 Hz hum and 3000 Hz hiss are suppressed.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74720" cy="18288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066544"/>
            <a:ext cx="314553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542032"/>
            <a:ext cx="3145536" cy="11155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The desired tone lies inside the 200–1000 Hz pass band.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74720" cy="18288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066544"/>
            <a:ext cx="3145536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542032"/>
            <a:ext cx="3145536" cy="11155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Real audio has many overlapping frequencies; a hard cutoff can distort sounds near the edges.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24128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E293B"/>
                </a:solidFill>
                <a:latin typeface="Aptos"/>
              </a:defRPr>
            </a:pPr>
            <a:r>
              <a:t>Conclusion: FFT identifies frequency content, masking removes selected bands, and IFFT reconstructs the filtered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69848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DD4BF"/>
                </a:solidFill>
                <a:latin typeface="Aptos"/>
              </a:defRPr>
            </a:pPr>
            <a:r>
              <a:t>Questions?</a:t>
            </a:r>
          </a:p>
        </p:txBody>
      </p:sp>
      <p:pic>
        <p:nvPicPr>
          <p:cNvPr id="4" name="Picture 3" descr="waveform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063240"/>
            <a:ext cx="832104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CBD5E1"/>
                </a:solidFill>
                <a:latin typeface="Aptos"/>
              </a:defRPr>
            </a:pPr>
            <a:r>
              <a:t>FFT  •  Frequency mask  •  IFFT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229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94A3B8"/>
                </a:solidFill>
                <a:latin typeface="Aptos"/>
              </a:defRPr>
            </a:pPr>
            <a:r>
              <a:t>AUDIO SIGNAL CLEANING  •  GROUP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