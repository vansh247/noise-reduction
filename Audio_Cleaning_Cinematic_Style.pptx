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project as a demonstration of basic digital signal processing. Replace the group member placeholder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the agenda: problem, signal construction, FFT, filtering, reconstruction, and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hum, hiss, and target tone in simple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the clean tone is 440 Hz, and two known sine waves are added as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how the combined waveform looks more complicated because the signals are added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FFT reveals the frequency components in the mixed signal. The peaks correspond to the three frequencies.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frequency mask keeps 200 to 1000 Hz, so the 440 Hz target passes while 60 Hz and 3000 Hz are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IFFT transforms the edited spectrum back into a time-domain waveform.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and let the animation run. Purple represents the noisy signal and teal the filtered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this example is controlled; real audio can contain overlapping desired and unwanted frequencies.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questions from the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gif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gif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66928"/>
            <a:ext cx="7315200" cy="25603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EEAD4"/>
                </a:solidFill>
                <a:latin typeface="Aptos"/>
              </a:defRPr>
            </a:pPr>
            <a:r>
              <a:t>SIGNAL PROCESSING   /  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07008"/>
            <a:ext cx="6583680" cy="14173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3500" b="1">
                <a:solidFill>
                  <a:srgbClr val="F5F7FA"/>
                </a:solidFill>
                <a:latin typeface="Aptos Display"/>
              </a:defRPr>
            </a:pPr>
            <a:r>
              <a:t>CLEANING</a:t>
            </a:r>
          </a:p>
          <a:p>
            <a:pPr>
              <a:spcAft>
                <a:spcPts val="500"/>
              </a:spcAft>
              <a:defRPr sz="3500" b="1">
                <a:solidFill>
                  <a:srgbClr val="F5F7FA"/>
                </a:solidFill>
                <a:latin typeface="Aptos Display"/>
              </a:defRPr>
            </a:pPr>
            <a:r>
              <a:t>NOISY AUDIO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816352"/>
            <a:ext cx="6583680" cy="4114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C084FC"/>
                </a:solidFill>
                <a:latin typeface="Aptos"/>
              </a:defRPr>
            </a:pPr>
            <a:r>
              <a:t>WITH FOURIER TRANSFORMS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401568"/>
            <a:ext cx="61264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94A3B8"/>
                </a:solidFill>
                <a:latin typeface="Aptos"/>
              </a:defRPr>
            </a:pPr>
            <a:r>
              <a:t>From a mixed waveform to a clearer 440 Hz tone.</a:t>
            </a:r>
          </a:p>
        </p:txBody>
      </p:sp>
      <p:pic>
        <p:nvPicPr>
          <p:cNvPr id="7" name="Picture 6" descr="noisy_sig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005840"/>
            <a:ext cx="4983480" cy="2240280"/>
          </a:xfrm>
          <a:prstGeom prst="rect">
            <a:avLst/>
          </a:prstGeom>
        </p:spPr>
      </p:pic>
      <p:pic>
        <p:nvPicPr>
          <p:cNvPr id="8" name="Picture 7" descr="filter_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3493008"/>
            <a:ext cx="4983480" cy="16459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7240" y="5440680"/>
            <a:ext cx="10607040" cy="18288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650992"/>
            <a:ext cx="9144000" cy="32004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5F7FA"/>
                </a:solidFill>
                <a:latin typeface="Aptos"/>
              </a:defRPr>
            </a:pPr>
            <a:r>
              <a:t>PRESENTED BY  [GROUP MEMBERS]     •     [CLASS / SECTION]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94A3B8"/>
                </a:solidFill>
                <a:latin typeface="Aptos"/>
              </a:defRPr>
            </a:pPr>
            <a:r>
              <a:t>SIGNAL LAB     /     FOURIER 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92240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94A3B8"/>
                </a:solidFill>
                <a:latin typeface="Aptos"/>
              </a:defRPr>
            </a:pPr>
            <a:r>
              <a:t>01   /  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B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57200"/>
            <a:ext cx="5486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F172A"/>
                </a:solidFill>
                <a:latin typeface="Aptos"/>
              </a:defRPr>
            </a:pPr>
            <a:r>
              <a:t>THE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68680"/>
            <a:ext cx="5577840" cy="10972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A tiny journey through</a:t>
            </a:r>
          </a:p>
          <a:p>
            <a:pPr>
              <a:spcAft>
                <a:spcPts val="500"/>
              </a:spcAft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signal processing.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822960"/>
            <a:ext cx="4754880" cy="32004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F172A"/>
                </a:solidFill>
                <a:latin typeface="Aptos"/>
              </a:defRPr>
            </a:pPr>
            <a:r>
              <a:t>01  THE PROBLEM</a:t>
            </a:r>
          </a:p>
          <a:p>
            <a:pPr>
              <a:spcAft>
                <a:spcPts val="500"/>
              </a:spcAft>
              <a:defRPr sz="1800" b="1">
                <a:solidFill>
                  <a:srgbClr val="0F172A"/>
                </a:solidFill>
                <a:latin typeface="Aptos"/>
              </a:defRPr>
            </a:pPr>
            <a:r>
              <a:t>02  BUILD THE SIGNAL</a:t>
            </a:r>
          </a:p>
          <a:p>
            <a:pPr>
              <a:spcAft>
                <a:spcPts val="500"/>
              </a:spcAft>
              <a:defRPr sz="1800" b="1">
                <a:solidFill>
                  <a:srgbClr val="0F172A"/>
                </a:solidFill>
                <a:latin typeface="Aptos"/>
              </a:defRPr>
            </a:pPr>
            <a:r>
              <a:t>03  FIND THE FREQUENCIES</a:t>
            </a:r>
          </a:p>
          <a:p>
            <a:pPr>
              <a:spcAft>
                <a:spcPts val="500"/>
              </a:spcAft>
              <a:defRPr sz="1800" b="1">
                <a:solidFill>
                  <a:srgbClr val="0F172A"/>
                </a:solidFill>
                <a:latin typeface="Aptos"/>
              </a:defRPr>
            </a:pPr>
            <a:r>
              <a:t>04  FILTER THE SPECTRUM</a:t>
            </a:r>
          </a:p>
          <a:p>
            <a:pPr>
              <a:spcAft>
                <a:spcPts val="500"/>
              </a:spcAft>
              <a:defRPr sz="1800" b="1">
                <a:solidFill>
                  <a:srgbClr val="0F172A"/>
                </a:solidFill>
                <a:latin typeface="Aptos"/>
              </a:defRPr>
            </a:pPr>
            <a:r>
              <a:t>05  REBUILD + COMPARE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937760"/>
            <a:ext cx="10515600" cy="228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5230368"/>
            <a:ext cx="13716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D9488"/>
                </a:solidFill>
                <a:latin typeface="Aptos"/>
              </a:defRPr>
            </a:pPr>
            <a:r>
              <a:t>KEY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175504"/>
            <a:ext cx="8961120" cy="4572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0F172A"/>
                </a:solidFill>
                <a:latin typeface="Aptos"/>
              </a:defRPr>
            </a:pPr>
            <a:r>
              <a:t>Find the unwanted frequencies. Remove them. Listen to the difference.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94A3B8"/>
                </a:solidFill>
                <a:latin typeface="Aptos"/>
              </a:defRPr>
            </a:pPr>
            <a:r>
              <a:t>SIGNAL LAB     /     FOURIER TRANSFORM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92240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94A3B8"/>
                </a:solidFill>
                <a:latin typeface="Aptos"/>
              </a:defRPr>
            </a:pPr>
            <a:r>
              <a:t>02   /  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EEAD4"/>
                </a:solidFill>
                <a:latin typeface="Aptos"/>
              </a:defRPr>
            </a:pPr>
            <a:r>
              <a:t>01 / 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694944"/>
            <a:ext cx="914400" cy="32004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881360" cy="65836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5F7FA"/>
                </a:solidFill>
                <a:latin typeface="Aptos Display"/>
              </a:defRPr>
            </a:pPr>
            <a:r>
              <a:t>What does noise look like?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10789920" cy="38404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94A3B8"/>
                </a:solidFill>
                <a:latin typeface="Aptos"/>
              </a:defRPr>
            </a:pPr>
            <a:r>
              <a:t>A clean sound can be mixed with unwanted frequencies.</a:t>
            </a:r>
          </a:p>
        </p:txBody>
      </p:sp>
      <p:pic>
        <p:nvPicPr>
          <p:cNvPr id="6" name="Picture 5" descr="noise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57400"/>
            <a:ext cx="5669280" cy="2423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0" y="2148840"/>
            <a:ext cx="438912" cy="25603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EEAD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5472" y="2121408"/>
            <a:ext cx="4206240" cy="47548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5F7FA"/>
                </a:solidFill>
                <a:latin typeface="Aptos"/>
              </a:defRPr>
            </a:pPr>
            <a:r>
              <a:t>60 Hz hum — a low electrical buzz.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770632"/>
            <a:ext cx="438912" cy="25603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EEAD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5472" y="2743200"/>
            <a:ext cx="4206240" cy="47548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5F7FA"/>
                </a:solidFill>
                <a:latin typeface="Aptos"/>
              </a:defRPr>
            </a:pPr>
            <a:r>
              <a:t>3000 Hz hiss — a high-frequency layer.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392424"/>
            <a:ext cx="438912" cy="25603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EEAD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5472" y="3364992"/>
            <a:ext cx="4206240" cy="47548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5F7FA"/>
                </a:solidFill>
                <a:latin typeface="Aptos"/>
              </a:defRPr>
            </a:pPr>
            <a:r>
              <a:t>440 Hz tone — our target sound.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074920"/>
            <a:ext cx="1828800" cy="384048"/>
          </a:xfrm>
          <a:prstGeom prst="roundRect">
            <a:avLst/>
          </a:prstGeom>
          <a:solidFill>
            <a:srgbClr val="141923"/>
          </a:solidFill>
          <a:ln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5157216"/>
            <a:ext cx="1682496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EEAD4"/>
                </a:solidFill>
                <a:latin typeface="Aptos"/>
              </a:defRPr>
            </a:pPr>
            <a:r>
              <a:t>TARGET: 440 Hz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5074920"/>
            <a:ext cx="1645920" cy="384048"/>
          </a:xfrm>
          <a:prstGeom prst="roundRect">
            <a:avLst/>
          </a:prstGeom>
          <a:solidFill>
            <a:srgbClr val="141923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70632" y="5157216"/>
            <a:ext cx="1499616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BBF24"/>
                </a:solidFill>
                <a:latin typeface="Aptos"/>
              </a:defRPr>
            </a:pPr>
            <a:r>
              <a:t>HUM: 60 Hz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5074920"/>
            <a:ext cx="1828800" cy="384048"/>
          </a:xfrm>
          <a:prstGeom prst="roundRect">
            <a:avLst/>
          </a:prstGeom>
          <a:solidFill>
            <a:srgbClr val="141923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5157216"/>
            <a:ext cx="1682496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B7185"/>
                </a:solidFill>
                <a:latin typeface="Aptos"/>
              </a:defRPr>
            </a:pPr>
            <a:r>
              <a:t>HISS: 3000 Hz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94A3B8"/>
                </a:solidFill>
                <a:latin typeface="Aptos"/>
              </a:defRPr>
            </a:pPr>
            <a:r>
              <a:t>SIGNAL LAB     /     FOURIER TRANSFORM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92240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94A3B8"/>
                </a:solidFill>
                <a:latin typeface="Aptos"/>
              </a:defRPr>
            </a:pPr>
            <a:r>
              <a:t>03   /  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EEAD4"/>
                </a:solidFill>
                <a:latin typeface="Aptos"/>
              </a:defRPr>
            </a:pPr>
            <a:r>
              <a:t>02 / BUILD THE SIGNAL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694944"/>
            <a:ext cx="914400" cy="32004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881360" cy="65836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5F7FA"/>
                </a:solidFill>
                <a:latin typeface="Aptos Display"/>
              </a:defRPr>
            </a:pPr>
            <a:r>
              <a:t>Three waves. One mixture.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10789920" cy="38404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94A3B8"/>
                </a:solidFill>
                <a:latin typeface="Aptos"/>
              </a:defRPr>
            </a:pPr>
            <a:r>
              <a:t>The code generates a controlled 2-second example.</a:t>
            </a:r>
          </a:p>
        </p:txBody>
      </p:sp>
      <p:pic>
        <p:nvPicPr>
          <p:cNvPr id="6" name="Picture 5" descr="clean_sig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57400"/>
            <a:ext cx="5349240" cy="2331720"/>
          </a:xfrm>
          <a:prstGeom prst="rect">
            <a:avLst/>
          </a:prstGeom>
        </p:spPr>
      </p:pic>
      <p:pic>
        <p:nvPicPr>
          <p:cNvPr id="7" name="Picture 6" descr="noise_compon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57400"/>
            <a:ext cx="5349240" cy="2331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617720"/>
            <a:ext cx="4389120" cy="2743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5EEAD4"/>
                </a:solidFill>
                <a:latin typeface="Aptos"/>
              </a:defRPr>
            </a:pPr>
            <a:r>
              <a:t>CLEAN TONE   •   440 Hz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617720"/>
            <a:ext cx="4846320" cy="2743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B7185"/>
                </a:solidFill>
                <a:latin typeface="Aptos"/>
              </a:defRPr>
            </a:pPr>
            <a:r>
              <a:t>NOISE LAYERS   •   60 Hz + 3000 Hz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257800"/>
            <a:ext cx="1060704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5F7FA"/>
                </a:solidFill>
                <a:latin typeface="Aptos"/>
              </a:defRPr>
            </a:pPr>
            <a:r>
              <a:t>Sampling rate: 8,000 Hz     /     Duration: 2 seconds     /     16,000 samples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94A3B8"/>
                </a:solidFill>
                <a:latin typeface="Aptos"/>
              </a:defRPr>
            </a:pPr>
            <a:r>
              <a:t>SIGNAL LAB     /     FOURIER 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92240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94A3B8"/>
                </a:solidFill>
                <a:latin typeface="Aptos"/>
              </a:defRPr>
            </a:pPr>
            <a:r>
              <a:t>04   /  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0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EEAD4"/>
                </a:solidFill>
                <a:latin typeface="Aptos"/>
              </a:defRPr>
            </a:pPr>
            <a:r>
              <a:t>02 / MIX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694944"/>
            <a:ext cx="914400" cy="32004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881360" cy="65836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5F7FA"/>
                </a:solidFill>
                <a:latin typeface="Aptos Display"/>
              </a:defRPr>
            </a:pPr>
            <a:r>
              <a:t>The original tone gets buried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10789920" cy="38404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94A3B8"/>
                </a:solidFill>
                <a:latin typeface="Aptos"/>
              </a:defRPr>
            </a:pPr>
            <a:r>
              <a:t>Adding the two noise components creates a more complicated waveform.</a:t>
            </a:r>
          </a:p>
        </p:txBody>
      </p:sp>
      <p:pic>
        <p:nvPicPr>
          <p:cNvPr id="6" name="Picture 5" descr="noisy_sig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57400"/>
            <a:ext cx="66294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26679" y="2176272"/>
            <a:ext cx="3474720" cy="29260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5F7FA"/>
                </a:solidFill>
                <a:latin typeface="Aptos"/>
              </a:defRPr>
            </a:pPr>
            <a:r>
              <a:t>clean_signal</a:t>
            </a:r>
          </a:p>
          <a:p>
            <a:pPr>
              <a:spcAft>
                <a:spcPts val="500"/>
              </a:spcAft>
              <a:defRPr sz="1700" b="1">
                <a:solidFill>
                  <a:srgbClr val="F5F7FA"/>
                </a:solidFill>
                <a:latin typeface="Aptos"/>
              </a:defRPr>
            </a:pPr>
            <a:r>
              <a:t>+</a:t>
            </a:r>
          </a:p>
          <a:p>
            <a:pPr>
              <a:spcAft>
                <a:spcPts val="500"/>
              </a:spcAft>
              <a:defRPr sz="1700" b="1">
                <a:solidFill>
                  <a:srgbClr val="F5F7FA"/>
                </a:solidFill>
                <a:latin typeface="Aptos"/>
              </a:defRPr>
            </a:pPr>
            <a:r>
              <a:t>noise_hum</a:t>
            </a:r>
          </a:p>
          <a:p>
            <a:pPr>
              <a:spcAft>
                <a:spcPts val="500"/>
              </a:spcAft>
              <a:defRPr sz="1700" b="1">
                <a:solidFill>
                  <a:srgbClr val="F5F7FA"/>
                </a:solidFill>
                <a:latin typeface="Aptos"/>
              </a:defRPr>
            </a:pPr>
            <a:r>
              <a:t>+</a:t>
            </a:r>
          </a:p>
          <a:p>
            <a:pPr>
              <a:spcAft>
                <a:spcPts val="500"/>
              </a:spcAft>
              <a:defRPr sz="1700" b="1">
                <a:solidFill>
                  <a:srgbClr val="F5F7FA"/>
                </a:solidFill>
                <a:latin typeface="Aptos"/>
              </a:defRPr>
            </a:pPr>
            <a:r>
              <a:t>noise_hiss</a:t>
            </a:r>
          </a:p>
          <a:p>
            <a:pPr>
              <a:spcAft>
                <a:spcPts val="500"/>
              </a:spcAft>
              <a:defRPr sz="1700" b="1">
                <a:solidFill>
                  <a:srgbClr val="F5F7FA"/>
                </a:solidFill>
                <a:latin typeface="Aptos"/>
              </a:defRPr>
            </a:pPr>
            <a:r>
              <a:t>=</a:t>
            </a:r>
          </a:p>
          <a:p>
            <a:pPr>
              <a:spcAft>
                <a:spcPts val="500"/>
              </a:spcAft>
              <a:defRPr sz="1700" b="1">
                <a:solidFill>
                  <a:srgbClr val="F5F7FA"/>
                </a:solidFill>
                <a:latin typeface="Aptos"/>
              </a:defRPr>
            </a:pPr>
            <a:r>
              <a:t>noisy_signal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5074920"/>
            <a:ext cx="3383280" cy="27432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5285232"/>
            <a:ext cx="3474720" cy="6400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C084FC"/>
                </a:solidFill>
                <a:latin typeface="Aptos"/>
              </a:defRPr>
            </a:pPr>
            <a:r>
              <a:t>The challenge:</a:t>
            </a:r>
          </a:p>
          <a:p>
            <a:pPr>
              <a:spcAft>
                <a:spcPts val="500"/>
              </a:spcAft>
              <a:defRPr sz="1400" b="1">
                <a:solidFill>
                  <a:srgbClr val="C084FC"/>
                </a:solidFill>
                <a:latin typeface="Aptos"/>
              </a:defRPr>
            </a:pPr>
            <a:r>
              <a:t>separate the frequencies again.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94A3B8"/>
                </a:solidFill>
                <a:latin typeface="Aptos"/>
              </a:defRPr>
            </a:pPr>
            <a:r>
              <a:t>SIGNAL LAB     /     FOURIER TRANSFORM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92240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94A3B8"/>
                </a:solidFill>
                <a:latin typeface="Aptos"/>
              </a:defRPr>
            </a:pPr>
            <a:r>
              <a:t>05   /  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EEAD4"/>
                </a:solidFill>
                <a:latin typeface="Aptos"/>
              </a:defRPr>
            </a:pPr>
            <a:r>
              <a:t>03 / FFT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694944"/>
            <a:ext cx="914400" cy="32004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881360" cy="65836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5F7FA"/>
                </a:solidFill>
                <a:latin typeface="Aptos Display"/>
              </a:defRPr>
            </a:pPr>
            <a:r>
              <a:t>Look at sound in frequency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10789920" cy="38404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94A3B8"/>
                </a:solidFill>
                <a:latin typeface="Aptos"/>
              </a:defRPr>
            </a:pPr>
            <a:r>
              <a:t>FFT = Fast Fourier Transform.</a:t>
            </a:r>
          </a:p>
        </p:txBody>
      </p:sp>
      <p:pic>
        <p:nvPicPr>
          <p:cNvPr id="6" name="Picture 5" descr="fft_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11680"/>
            <a:ext cx="6812280" cy="2971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8120" y="2286000"/>
            <a:ext cx="438912" cy="25603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EEAD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48472" y="2258568"/>
            <a:ext cx="3108960" cy="47548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5F7FA"/>
                </a:solidFill>
                <a:latin typeface="Aptos"/>
              </a:defRPr>
            </a:pPr>
            <a:r>
              <a:t>60 Hz peak → hum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907792"/>
            <a:ext cx="438912" cy="25603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EEAD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8472" y="2880360"/>
            <a:ext cx="3108960" cy="47548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5F7FA"/>
                </a:solidFill>
                <a:latin typeface="Aptos"/>
              </a:defRPr>
            </a:pPr>
            <a:r>
              <a:t>440 Hz peak → target tone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3529584"/>
            <a:ext cx="438912" cy="25603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EEAD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2" y="3502152"/>
            <a:ext cx="3108960" cy="47548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5F7FA"/>
                </a:solidFill>
                <a:latin typeface="Aptos"/>
              </a:defRPr>
            </a:pPr>
            <a:r>
              <a:t>3000 Hz peak → hiss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49240"/>
            <a:ext cx="98755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C084FC"/>
                </a:solidFill>
                <a:latin typeface="Aptos"/>
              </a:defRPr>
            </a:pPr>
            <a:r>
              <a:t>Like separating a chord into its individual notes.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94A3B8"/>
                </a:solidFill>
                <a:latin typeface="Aptos"/>
              </a:defRPr>
            </a:pPr>
            <a:r>
              <a:t>SIGNAL LAB     /     FOURIER TRANSFORM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92240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94A3B8"/>
                </a:solidFill>
                <a:latin typeface="Aptos"/>
              </a:defRPr>
            </a:pPr>
            <a:r>
              <a:t>06   /  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EEAD4"/>
                </a:solidFill>
                <a:latin typeface="Aptos"/>
              </a:defRPr>
            </a:pPr>
            <a:r>
              <a:t>04 / FILTER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694944"/>
            <a:ext cx="914400" cy="32004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881360" cy="65836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5F7FA"/>
                </a:solidFill>
                <a:latin typeface="Aptos Display"/>
              </a:defRPr>
            </a:pPr>
            <a:r>
              <a:t>Keep the frequencies we want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10789920" cy="38404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94A3B8"/>
                </a:solidFill>
                <a:latin typeface="Aptos"/>
              </a:defRPr>
            </a:pPr>
            <a:r>
              <a:t>The code keeps the 200–1000 Hz band and zeros out the rest.</a:t>
            </a:r>
          </a:p>
        </p:txBody>
      </p:sp>
      <p:pic>
        <p:nvPicPr>
          <p:cNvPr id="6" name="Picture 5" descr="filter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11680"/>
            <a:ext cx="6675120" cy="2606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8120" y="2057400"/>
            <a:ext cx="1828800" cy="2743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5EEAD4"/>
                </a:solidFill>
                <a:latin typeface="Aptos"/>
              </a:defRPr>
            </a:pPr>
            <a:r>
              <a:t>KEEP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395728"/>
            <a:ext cx="320040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5F7FA"/>
                </a:solidFill>
                <a:latin typeface="Aptos"/>
              </a:defRPr>
            </a:pPr>
            <a:r>
              <a:t>200–1000 Hz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3291840"/>
            <a:ext cx="1828800" cy="2743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BBF24"/>
                </a:solidFill>
                <a:latin typeface="Aptos"/>
              </a:defRPr>
            </a:pPr>
            <a:r>
              <a:t>REJECT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3611880"/>
            <a:ext cx="320040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F5F7FA"/>
                </a:solidFill>
                <a:latin typeface="Aptos"/>
              </a:defRPr>
            </a:pPr>
            <a:r>
              <a:t>60 Hz hum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4251960"/>
            <a:ext cx="1828800" cy="2743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B7185"/>
                </a:solidFill>
                <a:latin typeface="Aptos"/>
              </a:defRPr>
            </a:pPr>
            <a:r>
              <a:t>REJECT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4572000"/>
            <a:ext cx="320040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F5F7FA"/>
                </a:solidFill>
                <a:latin typeface="Aptos"/>
              </a:defRPr>
            </a:pPr>
            <a:r>
              <a:t>3000 Hz hiss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03520"/>
            <a:ext cx="1005840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5F7FA"/>
                </a:solidFill>
                <a:latin typeface="Aptos"/>
              </a:defRPr>
            </a:pPr>
            <a:r>
              <a:t>440 Hz falls inside the pass band, so it remains.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94A3B8"/>
                </a:solidFill>
                <a:latin typeface="Aptos"/>
              </a:defRPr>
            </a:pPr>
            <a:r>
              <a:t>SIGNAL LAB     /     FOURIER TRANSFORM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92240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94A3B8"/>
                </a:solidFill>
                <a:latin typeface="Aptos"/>
              </a:defRPr>
            </a:pPr>
            <a:r>
              <a:t>07   /  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EEAD4"/>
                </a:solidFill>
                <a:latin typeface="Aptos"/>
              </a:defRPr>
            </a:pPr>
            <a:r>
              <a:t>05 / RECONSTRUCT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694944"/>
            <a:ext cx="914400" cy="32004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881360" cy="65836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5F7FA"/>
                </a:solidFill>
                <a:latin typeface="Aptos Display"/>
              </a:defRPr>
            </a:pPr>
            <a:r>
              <a:t>Back to the time domain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10789920" cy="38404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94A3B8"/>
                </a:solidFill>
                <a:latin typeface="Aptos"/>
              </a:defRPr>
            </a:pPr>
            <a:r>
              <a:t>IFFT rebuilds a waveform from the filtered spectrum.</a:t>
            </a:r>
          </a:p>
        </p:txBody>
      </p:sp>
      <p:pic>
        <p:nvPicPr>
          <p:cNvPr id="6" name="Picture 5" descr="filtered_sig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57400"/>
            <a:ext cx="6720840" cy="2834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26679" y="2194560"/>
            <a:ext cx="438912" cy="25603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EEAD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2167128"/>
            <a:ext cx="3200399" cy="47548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5F7FA"/>
                </a:solidFill>
                <a:latin typeface="Aptos"/>
              </a:defRPr>
            </a:pPr>
            <a:r>
              <a:t>The filtered output resembles the original tone.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2816352"/>
            <a:ext cx="438912" cy="25603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EEAD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7031" y="2788920"/>
            <a:ext cx="3200399" cy="47548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5F7FA"/>
                </a:solidFill>
                <a:latin typeface="Aptos"/>
              </a:defRPr>
            </a:pPr>
            <a:r>
              <a:t>The hum and hiss components are suppressed.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438144"/>
            <a:ext cx="438912" cy="25603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EEAD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7031" y="3410712"/>
            <a:ext cx="3200399" cy="47548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5F7FA"/>
                </a:solidFill>
                <a:latin typeface="Aptos"/>
              </a:defRPr>
            </a:pPr>
            <a:r>
              <a:t>The result can now be compared in the time domain.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49240"/>
            <a:ext cx="10332720" cy="32004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5EEAD4"/>
                </a:solidFill>
                <a:latin typeface="Aptos"/>
              </a:defRPr>
            </a:pPr>
            <a:r>
              <a:t>FILTERED SPECTRUM   →   IFFT   →   CLEANED SIGNAL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94A3B8"/>
                </a:solidFill>
                <a:latin typeface="Aptos"/>
              </a:defRPr>
            </a:pPr>
            <a:r>
              <a:t>SIGNAL LAB     /     FOURIER TRANSFORM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92240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94A3B8"/>
                </a:solidFill>
                <a:latin typeface="Aptos"/>
              </a:defRPr>
            </a:pPr>
            <a:r>
              <a:t>08   /  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EEAD4"/>
                </a:solidFill>
                <a:latin typeface="Aptos"/>
              </a:defRPr>
            </a:pPr>
            <a: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694944"/>
            <a:ext cx="914400" cy="32004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881360" cy="65836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5F7FA"/>
                </a:solidFill>
                <a:latin typeface="Aptos Display"/>
              </a:defRPr>
            </a:pPr>
            <a:r>
              <a:t>Hear the difference with your eyes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10789920" cy="38404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94A3B8"/>
                </a:solidFill>
                <a:latin typeface="Aptos"/>
              </a:defRPr>
            </a:pPr>
            <a:r>
              <a:t>Animated 50 ms window: noisy mixture vs filtered output.</a:t>
            </a:r>
          </a:p>
        </p:txBody>
      </p:sp>
      <p:pic>
        <p:nvPicPr>
          <p:cNvPr id="6" name="Picture 5" descr="waveform_animatio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874519"/>
            <a:ext cx="8046720" cy="3337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281160" y="2377440"/>
            <a:ext cx="1920240" cy="384048"/>
          </a:xfrm>
          <a:prstGeom prst="roundRect">
            <a:avLst/>
          </a:prstGeom>
          <a:solidFill>
            <a:srgbClr val="141923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54312" y="2459736"/>
            <a:ext cx="1773936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C084FC"/>
                </a:solidFill>
                <a:latin typeface="Aptos"/>
              </a:defRPr>
            </a:pPr>
            <a:r>
              <a:t>PURPLE = NOISY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81160" y="3108960"/>
            <a:ext cx="1920240" cy="384048"/>
          </a:xfrm>
          <a:prstGeom prst="roundRect">
            <a:avLst/>
          </a:prstGeom>
          <a:solidFill>
            <a:srgbClr val="141923"/>
          </a:solidFill>
          <a:ln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54312" y="3191256"/>
            <a:ext cx="1773936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EEAD4"/>
                </a:solidFill>
                <a:latin typeface="Aptos"/>
              </a:defRPr>
            </a:pPr>
            <a:r>
              <a:t>TEAL = FILTERED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532120"/>
            <a:ext cx="9692640" cy="32004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94A3B8"/>
                </a:solidFill>
                <a:latin typeface="Aptos"/>
              </a:defRPr>
            </a:pPr>
            <a:r>
              <a:t>Run the slide show to view the moving waveform.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94A3B8"/>
                </a:solidFill>
                <a:latin typeface="Aptos"/>
              </a:defRPr>
            </a:pPr>
            <a:r>
              <a:t>SIGNAL LAB     /     FOURIER TRANSFORM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92240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94A3B8"/>
                </a:solidFill>
                <a:latin typeface="Aptos"/>
              </a:defRPr>
            </a:pPr>
            <a:r>
              <a:t>09   /  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B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57200"/>
            <a:ext cx="45720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D9488"/>
                </a:solidFill>
                <a:latin typeface="Aptos"/>
              </a:defRPr>
            </a:pPr>
            <a:r>
              <a:t>06 /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68680"/>
            <a:ext cx="6766560" cy="10515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What worked —</a:t>
            </a:r>
          </a:p>
          <a:p>
            <a:pPr>
              <a:spcAft>
                <a:spcPts val="500"/>
              </a:spcAft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and what to remember.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331720"/>
            <a:ext cx="2926080" cy="4572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2926080" cy="2743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D9488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2926080" cy="10515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F172A"/>
                </a:solidFill>
                <a:latin typeface="Aptos"/>
              </a:defRPr>
            </a:pPr>
            <a:r>
              <a:t>440 Hz is preserved.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2331720"/>
            <a:ext cx="2926080" cy="4572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606040"/>
            <a:ext cx="2926080" cy="2743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D28D9"/>
                </a:solidFill>
                <a:latin typeface="Aptos"/>
              </a:defRPr>
            </a:pPr>
            <a:r>
              <a:t>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3063240"/>
            <a:ext cx="2926080" cy="10515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F172A"/>
                </a:solidFill>
                <a:latin typeface="Aptos"/>
              </a:defRPr>
            </a:pPr>
            <a:r>
              <a:t>It lies inside 200–1000 Hz.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2331720"/>
            <a:ext cx="2926080" cy="4572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606040"/>
            <a:ext cx="2926080" cy="2743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BE185D"/>
                </a:solidFill>
                <a:latin typeface="Aptos"/>
              </a:defRPr>
            </a:pPr>
            <a:r>
              <a:t>LIMIT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063240"/>
            <a:ext cx="2926080" cy="10515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F172A"/>
                </a:solidFill>
                <a:latin typeface="Aptos"/>
              </a:defRPr>
            </a:pPr>
            <a:r>
              <a:t>Real sounds may overlap in frequency.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029200"/>
            <a:ext cx="10607040" cy="6858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0F172A"/>
                </a:solidFill>
                <a:latin typeface="Aptos"/>
              </a:defRPr>
            </a:pPr>
            <a:r>
              <a:t>FFT finds the frequency content. Masking removes selected bands. IFFT reconstructs the output.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94A3B8"/>
                </a:solidFill>
                <a:latin typeface="Aptos"/>
              </a:defRPr>
            </a:pPr>
            <a:r>
              <a:t>SIGNAL LAB     /     FOURIER TRANSFORM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92240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94A3B8"/>
                </a:solidFill>
                <a:latin typeface="Aptos"/>
              </a:defRPr>
            </a:pPr>
            <a:r>
              <a:t>10   /  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60120"/>
            <a:ext cx="10698480" cy="7315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ctr">
              <a:spcAft>
                <a:spcPts val="500"/>
              </a:spcAft>
              <a:defRPr sz="3700" b="1">
                <a:solidFill>
                  <a:srgbClr val="F5F7FA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ctr">
              <a:spcAft>
                <a:spcPts val="500"/>
              </a:spcAft>
              <a:defRPr sz="2300" b="1">
                <a:solidFill>
                  <a:srgbClr val="5EEAD4"/>
                </a:solidFill>
                <a:latin typeface="Aptos"/>
              </a:defRPr>
            </a:pPr>
            <a:r>
              <a:t>QUESTIONS?</a:t>
            </a:r>
          </a:p>
        </p:txBody>
      </p:sp>
      <p:pic>
        <p:nvPicPr>
          <p:cNvPr id="4" name="Picture 3" descr="waveform_animatio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2788920"/>
            <a:ext cx="8138160" cy="2514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806440"/>
            <a:ext cx="10698480" cy="32004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C084FC"/>
                </a:solidFill>
                <a:latin typeface="Aptos"/>
              </a:defRPr>
            </a:pPr>
            <a:r>
              <a:t>FFT     /     FREQUENCY MASK     /     IFFT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94A3B8"/>
                </a:solidFill>
                <a:latin typeface="Aptos"/>
              </a:defRPr>
            </a:pPr>
            <a:r>
              <a:t>SIGNAL LAB     /     FOURIER TRANSFORM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94A3B8"/>
                </a:solidFill>
                <a:latin typeface="Aptos"/>
              </a:defRPr>
            </a:pPr>
            <a:r>
              <a:t>11   / 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